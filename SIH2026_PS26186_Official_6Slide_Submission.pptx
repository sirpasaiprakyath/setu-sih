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pPr>
              <a:defRPr sz="1300" b="1">
                <a:solidFill>
                  <a:srgbClr val="0070C0"/>
                </a:solidFill>
                <a:latin typeface="Arial"/>
              </a:defRPr>
            </a:pPr>
            <a:r>
              <a:t>SIH INTERNAL REVIEW EVALUATION DECK • GRAND FINALE CANDIDATE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pPr>
              <a:defRPr b="1" sz="3600">
                <a:solidFill>
                  <a:srgbClr val="0B132B"/>
                </a:solidFill>
                <a:latin typeface="Garamond"/>
              </a:defRPr>
            </a:pPr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365760" y="1536192"/>
            <a:ext cx="5760720" cy="2450592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1536192"/>
            <a:ext cx="5760720" cy="2450592"/>
          </a:xfrm>
          <a:prstGeom prst="rect">
            <a:avLst/>
          </a:prstGeom>
          <a:noFill/>
        </p:spPr>
        <p:txBody>
          <a:bodyPr wrap="square" lIns="164592" rIns="164592" tIns="128016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070C0"/>
                </a:solidFill>
                <a:latin typeface="Arial"/>
              </a:defRPr>
            </a:pPr>
            <a:r>
              <a:t>PROBLEM STATEMENT &amp; SOLUTION OVERVIEW</a:t>
            </a:r>
          </a:p>
          <a:p>
            <a:pPr>
              <a:spcAft>
                <a:spcPts val="350"/>
              </a:spcAft>
            </a:pPr>
            <a:r>
              <a:rPr sz="940" b="1">
                <a:solidFill>
                  <a:srgbClr val="0070C0"/>
                </a:solidFill>
                <a:latin typeface="Arial"/>
              </a:rPr>
              <a:t>• </a:t>
            </a:r>
            <a:r>
              <a:rPr sz="940" b="1">
                <a:solidFill>
                  <a:srgbClr val="0F172A"/>
                </a:solidFill>
                <a:latin typeface="Arial"/>
              </a:rPr>
              <a:t>Problem Statement ID: </a:t>
            </a:r>
            <a:r>
              <a:rPr sz="940" b="0">
                <a:solidFill>
                  <a:srgbClr val="475569"/>
                </a:solidFill>
                <a:latin typeface="Calibri"/>
              </a:rPr>
              <a:t>26186</a:t>
            </a:r>
          </a:p>
          <a:p>
            <a:pPr>
              <a:spcAft>
                <a:spcPts val="350"/>
              </a:spcAft>
            </a:pPr>
            <a:r>
              <a:rPr sz="940" b="1">
                <a:solidFill>
                  <a:srgbClr val="0070C0"/>
                </a:solidFill>
                <a:latin typeface="Arial"/>
              </a:rPr>
              <a:t>• </a:t>
            </a:r>
            <a:r>
              <a:rPr sz="940" b="1">
                <a:solidFill>
                  <a:srgbClr val="0F172A"/>
                </a:solidFill>
                <a:latin typeface="Arial"/>
              </a:rPr>
              <a:t>Problem Statement Title: </a:t>
            </a:r>
            <a:r>
              <a:rPr sz="940" b="0">
                <a:solidFill>
                  <a:srgbClr val="475569"/>
                </a:solidFill>
                <a:latin typeface="Calibri"/>
              </a:rPr>
              <a:t>Mental Health &amp; Welfare Monitoring System for CRPF Personnel</a:t>
            </a:r>
          </a:p>
          <a:p>
            <a:pPr>
              <a:spcAft>
                <a:spcPts val="350"/>
              </a:spcAft>
            </a:pPr>
            <a:r>
              <a:rPr sz="940" b="1">
                <a:solidFill>
                  <a:srgbClr val="0070C0"/>
                </a:solidFill>
                <a:latin typeface="Arial"/>
              </a:rPr>
              <a:t>• </a:t>
            </a:r>
            <a:r>
              <a:rPr sz="940" b="1">
                <a:solidFill>
                  <a:srgbClr val="0F172A"/>
                </a:solidFill>
                <a:latin typeface="Arial"/>
              </a:rPr>
              <a:t>Project Title: </a:t>
            </a:r>
            <a:r>
              <a:rPr sz="940" b="0">
                <a:solidFill>
                  <a:srgbClr val="475569"/>
                </a:solidFill>
                <a:latin typeface="Calibri"/>
              </a:rPr>
              <a:t>SETU: Guardian Minds (Confidential Mobile App &amp; Command Web Platform)</a:t>
            </a:r>
          </a:p>
          <a:p>
            <a:pPr>
              <a:spcAft>
                <a:spcPts val="350"/>
              </a:spcAft>
            </a:pPr>
            <a:r>
              <a:rPr sz="940" b="1">
                <a:solidFill>
                  <a:srgbClr val="0070C0"/>
                </a:solidFill>
                <a:latin typeface="Arial"/>
              </a:rPr>
              <a:t>• </a:t>
            </a:r>
            <a:r>
              <a:rPr sz="940" b="1">
                <a:solidFill>
                  <a:srgbClr val="0F172A"/>
                </a:solidFill>
                <a:latin typeface="Arial"/>
              </a:rPr>
              <a:t>Theme &amp; Category: </a:t>
            </a:r>
            <a:r>
              <a:rPr sz="940" b="0">
                <a:solidFill>
                  <a:srgbClr val="475569"/>
                </a:solidFill>
                <a:latin typeface="Calibri"/>
              </a:rPr>
              <a:t>Healthcare &amp; Mental Health Welfare | Mobile &amp; Software Edition</a:t>
            </a:r>
          </a:p>
          <a:p>
            <a:pPr>
              <a:spcAft>
                <a:spcPts val="350"/>
              </a:spcAft>
            </a:pPr>
            <a:r>
              <a:rPr sz="940" b="1">
                <a:solidFill>
                  <a:srgbClr val="0070C0"/>
                </a:solidFill>
                <a:latin typeface="Arial"/>
              </a:rPr>
              <a:t>• </a:t>
            </a:r>
            <a:r>
              <a:rPr sz="940" b="1">
                <a:solidFill>
                  <a:srgbClr val="0F172A"/>
                </a:solidFill>
                <a:latin typeface="Arial"/>
              </a:rPr>
              <a:t>Target Organization: </a:t>
            </a:r>
            <a:r>
              <a:rPr sz="940" b="0">
                <a:solidFill>
                  <a:srgbClr val="475569"/>
                </a:solidFill>
                <a:latin typeface="Calibri"/>
              </a:rPr>
              <a:t>CRPF, Police-II Division, Ministry of Home Affairs (MHA), GoI [Pan-CAPF Scalable]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096512"/>
            <a:ext cx="5760720" cy="2194560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4096512"/>
            <a:ext cx="5760720" cy="2194560"/>
          </a:xfrm>
          <a:prstGeom prst="rect">
            <a:avLst/>
          </a:prstGeom>
          <a:noFill/>
        </p:spPr>
        <p:txBody>
          <a:bodyPr wrap="square" lIns="164592" rIns="164592" tIns="109728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0070C0"/>
                </a:solidFill>
                <a:latin typeface="Arial"/>
              </a:defRPr>
            </a:pPr>
            <a:r>
              <a:t>TEAM ROSTER &amp; INSTITUTION INFORMATION</a:t>
            </a:r>
          </a:p>
          <a:p>
            <a:pPr>
              <a:spcAft>
                <a:spcPts val="350"/>
              </a:spcAft>
            </a:pPr>
            <a:r>
              <a:rPr sz="919" b="1">
                <a:solidFill>
                  <a:srgbClr val="0070C0"/>
                </a:solidFill>
                <a:latin typeface="Arial"/>
              </a:rPr>
              <a:t>• </a:t>
            </a:r>
            <a:r>
              <a:rPr sz="919" b="1">
                <a:solidFill>
                  <a:srgbClr val="0F172A"/>
                </a:solidFill>
                <a:latin typeface="Arial"/>
              </a:rPr>
              <a:t>Team ID &amp; Name: </a:t>
            </a:r>
            <a:r>
              <a:rPr sz="919" b="0">
                <a:solidFill>
                  <a:srgbClr val="475569"/>
                </a:solidFill>
                <a:latin typeface="Calibri"/>
              </a:rPr>
              <a:t>[Your Team ID]  |  [Your Team Name]</a:t>
            </a:r>
          </a:p>
          <a:p>
            <a:pPr>
              <a:spcAft>
                <a:spcPts val="350"/>
              </a:spcAft>
            </a:pPr>
            <a:r>
              <a:rPr sz="919" b="1">
                <a:solidFill>
                  <a:srgbClr val="0070C0"/>
                </a:solidFill>
                <a:latin typeface="Arial"/>
              </a:rPr>
              <a:t>• </a:t>
            </a:r>
            <a:r>
              <a:rPr sz="919" b="1">
                <a:solidFill>
                  <a:srgbClr val="0F172A"/>
                </a:solidFill>
                <a:latin typeface="Arial"/>
              </a:rPr>
              <a:t>Institute / College: </a:t>
            </a:r>
            <a:r>
              <a:rPr sz="919" b="0">
                <a:solidFill>
                  <a:srgbClr val="475569"/>
                </a:solidFill>
                <a:latin typeface="Calibri"/>
              </a:rPr>
              <a:t>[Your College / University Name]</a:t>
            </a:r>
          </a:p>
          <a:p>
            <a:pPr>
              <a:spcAft>
                <a:spcPts val="350"/>
              </a:spcAft>
            </a:pPr>
            <a:r>
              <a:rPr sz="919" b="1">
                <a:solidFill>
                  <a:srgbClr val="0070C0"/>
                </a:solidFill>
                <a:latin typeface="Arial"/>
              </a:rPr>
              <a:t>• </a:t>
            </a:r>
            <a:r>
              <a:rPr sz="919" b="1">
                <a:solidFill>
                  <a:srgbClr val="0F172A"/>
                </a:solidFill>
                <a:latin typeface="Arial"/>
              </a:rPr>
              <a:t>Team Leader: </a:t>
            </a:r>
            <a:r>
              <a:rPr sz="919" b="0">
                <a:solidFill>
                  <a:srgbClr val="475569"/>
                </a:solidFill>
                <a:latin typeface="Calibri"/>
              </a:rPr>
              <a:t>[Leader Name] (Full-Stack &amp; System Architecture)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Core Members: </a:t>
            </a:r>
            <a:r>
              <a:rPr sz="880" b="0">
                <a:solidFill>
                  <a:srgbClr val="475569"/>
                </a:solidFill>
                <a:latin typeface="Calibri"/>
              </a:rPr>
              <a:t>[Member 2: ML/XAI], [Member 3: Mobile/PWA Dev], [Member 4: Security], [Member 5: UI/UX]</a:t>
            </a:r>
          </a:p>
          <a:p>
            <a:pPr>
              <a:spcAft>
                <a:spcPts val="350"/>
              </a:spcAft>
            </a:pPr>
            <a:r>
              <a:rPr sz="919" b="1">
                <a:solidFill>
                  <a:srgbClr val="0070C0"/>
                </a:solidFill>
                <a:latin typeface="Arial"/>
              </a:rPr>
              <a:t>• </a:t>
            </a:r>
            <a:r>
              <a:rPr sz="919" b="1">
                <a:solidFill>
                  <a:srgbClr val="0F172A"/>
                </a:solidFill>
                <a:latin typeface="Arial"/>
              </a:rPr>
              <a:t>Mandatory Female Member: </a:t>
            </a:r>
            <a:r>
              <a:rPr sz="919" b="0">
                <a:solidFill>
                  <a:srgbClr val="475569"/>
                </a:solidFill>
                <a:latin typeface="Calibri"/>
              </a:rPr>
              <a:t>[Member 6 Name] (Domain Research &amp; Clinical QA)</a:t>
            </a:r>
          </a:p>
          <a:p>
            <a:pPr>
              <a:spcAft>
                <a:spcPts val="350"/>
              </a:spcAft>
            </a:pPr>
            <a:r>
              <a:rPr sz="919" b="1">
                <a:solidFill>
                  <a:srgbClr val="0070C0"/>
                </a:solidFill>
                <a:latin typeface="Arial"/>
              </a:rPr>
              <a:t>• </a:t>
            </a:r>
            <a:r>
              <a:rPr sz="919" b="1">
                <a:solidFill>
                  <a:srgbClr val="0F172A"/>
                </a:solidFill>
                <a:latin typeface="Arial"/>
              </a:rPr>
              <a:t>Mentor(s): </a:t>
            </a:r>
            <a:r>
              <a:rPr sz="919" b="0">
                <a:solidFill>
                  <a:srgbClr val="475569"/>
                </a:solidFill>
                <a:latin typeface="Calibri"/>
              </a:rPr>
              <a:t>[Faculty / Industry Mentor Name(s)]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00200" y="109728"/>
            <a:ext cx="8001000" cy="868680"/>
          </a:xfrm>
        </p:spPr>
        <p:txBody>
          <a:bodyPr wrap="square" tIns="0" bIns="0"/>
          <a:lstStyle/>
          <a:p>
            <a:pPr eaLnBrk="1" hangingPunct="1" algn="ctr">
              <a:defRPr sz="1800" b="1">
                <a:solidFill>
                  <a:srgbClr val="0B132B"/>
                </a:solidFill>
                <a:latin typeface="Arial"/>
              </a:defRPr>
            </a:pPr>
            <a:r>
              <a:t>IDEA TITLE: SETU (GUARDIAN MINDS)</a:t>
            </a:r>
          </a:p>
          <a:p>
            <a:pPr algn="ctr">
              <a:defRPr sz="1000" b="1">
                <a:solidFill>
                  <a:srgbClr val="0070C0"/>
                </a:solidFill>
                <a:latin typeface="Calibri"/>
              </a:defRPr>
            </a:pPr>
            <a:r>
              <a:t>Confidential Welfare Monitoring, Early Triage &amp; Stigma-Free Mobile Support for CRPF Personnel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70C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850" b="1">
                <a:solidFill>
                  <a:srgbClr val="0070C0"/>
                </a:solidFill>
                <a:latin typeface="Arial"/>
              </a:defRPr>
            </a:pPr>
            <a:r>
              <a:t>[Your Name]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502920" y="1143000"/>
            <a:ext cx="5440680" cy="2423160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3" name="TextBox 15362"/>
          <p:cNvSpPr txBox="1"/>
          <p:nvPr/>
        </p:nvSpPr>
        <p:spPr>
          <a:xfrm>
            <a:off x="502920" y="1143000"/>
            <a:ext cx="5440680" cy="2423160"/>
          </a:xfrm>
          <a:prstGeom prst="rect">
            <a:avLst/>
          </a:prstGeom>
          <a:noFill/>
        </p:spPr>
        <p:txBody>
          <a:bodyPr wrap="square" lIns="146304" rIns="146304" tIns="109728" bIns="9144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Arial"/>
              </a:rPr>
              <a:t>1. PROPOSED SOLUTION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0B132B"/>
                </a:solidFill>
                <a:latin typeface="Arial"/>
              </a:rPr>
              <a:t>▶ Mobile-First Frontline App &amp; Command Triage Prototype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Target Beneficiaries: </a:t>
            </a:r>
            <a:r>
              <a:rPr sz="900" b="0">
                <a:solidFill>
                  <a:srgbClr val="475569"/>
                </a:solidFill>
                <a:latin typeface="Calibri"/>
              </a:rPr>
              <a:t>3.25+ Lakh CRPF personnel deployed across high-intensity Counter-Naxal/LWE grids, J&amp;K/North-East CI sectors, and Law &amp; Order duties [Pan-CAPF scalable to 10.5+ Lakh troops].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Dual-Platform Ecosystem: </a:t>
            </a:r>
            <a:r>
              <a:rPr sz="900" b="0">
                <a:solidFill>
                  <a:srgbClr val="475569"/>
                </a:solidFill>
                <a:latin typeface="Calibri"/>
              </a:rPr>
              <a:t>Lightweight, offline-first Android Mobile App &amp; PWA for jawans in the field, coupled with an institutional Clinical &amp; Command Web Console for Doctors and HQ.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Operational Indicators: </a:t>
            </a:r>
            <a:r>
              <a:rPr sz="900" b="0">
                <a:solidFill>
                  <a:srgbClr val="475569"/>
                </a:solidFill>
                <a:latin typeface="Calibri"/>
              </a:rPr>
              <a:t>Replaces subjective psychiatric surveys with objective mobile indicators: sleep disruptions, duty shift overextension, and family separation load.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6217920" y="1143000"/>
            <a:ext cx="5440680" cy="2423160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6217920" y="1143000"/>
            <a:ext cx="5440680" cy="2423160"/>
          </a:xfrm>
          <a:prstGeom prst="rect">
            <a:avLst/>
          </a:prstGeom>
          <a:noFill/>
        </p:spPr>
        <p:txBody>
          <a:bodyPr wrap="square" lIns="146304" rIns="146304" tIns="109728" bIns="9144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Arial"/>
              </a:rPr>
              <a:t>2. DETAILED EXPLANATION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0B132B"/>
                </a:solidFill>
                <a:latin typeface="Arial"/>
              </a:rPr>
              <a:t>▶ 5-Tier Role-Based Access Control Architecture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Frontline Mobile App: </a:t>
            </a:r>
            <a:r>
              <a:rPr sz="900" b="0">
                <a:solidFill>
                  <a:srgbClr val="475569"/>
                </a:solidFill>
                <a:latin typeface="Calibri"/>
              </a:rPr>
              <a:t>Touch-optimized Android/PWA interface: 60s Saathi check-in, unmonitored barracks Vishram sanctuary, voice strain check, and SPARSH desk.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NCO Tactical Tablet: </a:t>
            </a:r>
            <a:r>
              <a:rPr sz="900" b="0">
                <a:solidFill>
                  <a:srgbClr val="475569"/>
                </a:solidFill>
                <a:latin typeface="Calibri"/>
              </a:rPr>
              <a:t>Bi-daily (48h–72h) section muster logging patrol fatigue, extreme weather, ration delays, and confidential peer flags.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Clinical &amp; HQ Web Console: </a:t>
            </a:r>
            <a:r>
              <a:rPr sz="900" b="0">
                <a:solidFill>
                  <a:srgbClr val="475569"/>
                </a:solidFill>
                <a:latin typeface="Calibri"/>
              </a:rPr>
              <a:t>Unit Medical Officer receives explainable high-strain dossiers; HQ Admin maintains GIGW 3.0 tamper-evident audit ledger.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502920" y="3703320"/>
            <a:ext cx="5440680" cy="2423160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TextBox 15366"/>
          <p:cNvSpPr txBox="1"/>
          <p:nvPr/>
        </p:nvSpPr>
        <p:spPr>
          <a:xfrm>
            <a:off x="502920" y="3703320"/>
            <a:ext cx="5440680" cy="2423160"/>
          </a:xfrm>
          <a:prstGeom prst="rect">
            <a:avLst/>
          </a:prstGeom>
          <a:noFill/>
        </p:spPr>
        <p:txBody>
          <a:bodyPr wrap="square" lIns="146304" rIns="146304" tIns="109728" bIns="9144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Arial"/>
              </a:rPr>
              <a:t>3. HOW IT ADDRESSES THE PROBLEM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0B132B"/>
                </a:solidFill>
                <a:latin typeface="Arial"/>
              </a:rPr>
              <a:t>▶ Solving Critical Armed Forces Realities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Overcoming Stigma via Mobile Privacy: </a:t>
            </a:r>
            <a:r>
              <a:rPr sz="900" b="0">
                <a:solidFill>
                  <a:srgbClr val="475569"/>
                </a:solidFill>
                <a:latin typeface="Calibri"/>
              </a:rPr>
              <a:t>Personal smartphone app with biometric/PIN lock ensures confidential self-care without fear of weapon de-authorization or career harm.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Personal Baseline vs. Group Norms: </a:t>
            </a:r>
            <a:r>
              <a:rPr sz="900" b="0">
                <a:solidFill>
                  <a:srgbClr val="475569"/>
                </a:solidFill>
                <a:latin typeface="Calibri"/>
              </a:rPr>
              <a:t>Civilian apps compare soldiers against static averages; SETU evaluates each personnel solely against their own 90-day moving baseline.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Offline-First Mobile Architecture: </a:t>
            </a:r>
            <a:r>
              <a:rPr sz="900" b="0">
                <a:solidFill>
                  <a:srgbClr val="475569"/>
                </a:solidFill>
                <a:latin typeface="Calibri"/>
              </a:rPr>
              <a:t>Functions autonomously on Android in remote outposts (Dantewada, Sukma, J&amp;K, North-East) with local SQLite/IndexedDB cache and PolNet / Wi-Fi sync.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6217920" y="3703320"/>
            <a:ext cx="5440680" cy="2423160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TextBox 15368"/>
          <p:cNvSpPr txBox="1"/>
          <p:nvPr/>
        </p:nvSpPr>
        <p:spPr>
          <a:xfrm>
            <a:off x="6217920" y="3703320"/>
            <a:ext cx="5440680" cy="2423160"/>
          </a:xfrm>
          <a:prstGeom prst="rect">
            <a:avLst/>
          </a:prstGeom>
          <a:noFill/>
        </p:spPr>
        <p:txBody>
          <a:bodyPr wrap="square" lIns="146304" rIns="146304" tIns="109728" bIns="9144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Arial"/>
              </a:rPr>
              <a:t>4. INNOVATION &amp; UNIQUENESS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0B132B"/>
                </a:solidFill>
                <a:latin typeface="Arial"/>
              </a:rPr>
              <a:t>▶ Three Novel Technological Differentiators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Personal Baseline Z-Score (ΔZ): </a:t>
            </a:r>
            <a:r>
              <a:rPr sz="900" b="0">
                <a:solidFill>
                  <a:srgbClr val="475569"/>
                </a:solidFill>
                <a:latin typeface="Calibri"/>
              </a:rPr>
              <a:t>Mathematically tracks standard deviation shifts ((X_t - μ)/σ) in personal sleep and endurance rather than arbitrary survey sums.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Vishram (Air-Gapped Mobile Sanctuary): </a:t>
            </a:r>
            <a:r>
              <a:rPr sz="900" b="0">
                <a:solidFill>
                  <a:srgbClr val="475569"/>
                </a:solidFill>
                <a:latin typeface="Calibri"/>
              </a:rPr>
              <a:t>100% unmonitored bedside relaxation &amp; audio hub with zero telemetry, zero logs, screen-off playback, and zero administrative visibility.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Explainable AI (81.7% with SHAP): </a:t>
            </a:r>
            <a:r>
              <a:rPr sz="900" b="0">
                <a:solidFill>
                  <a:srgbClr val="475569"/>
                </a:solidFill>
                <a:latin typeface="Calibri"/>
              </a:rPr>
              <a:t>Calibrated XGBoost with transparent feature attribution showing doctors exact % triggers (e.g. sleep drop 42%, night sentry 31%).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00200" y="109728"/>
            <a:ext cx="8001000" cy="868680"/>
          </a:xfrm>
        </p:spPr>
        <p:txBody>
          <a:bodyPr wrap="square" tIns="0" bIns="0"/>
          <a:lstStyle/>
          <a:p>
            <a:pPr eaLnBrk="1" hangingPunct="1" algn="ctr">
              <a:defRPr sz="1800" b="1">
                <a:solidFill>
                  <a:srgbClr val="0B132B"/>
                </a:solidFill>
                <a:latin typeface="Arial"/>
              </a:defRPr>
            </a:pPr>
            <a:r>
              <a:t>TECHNICAL APPROACH: ARCHITECTURE &amp; METHODOLOGY</a:t>
            </a:r>
          </a:p>
          <a:p>
            <a:pPr algn="ctr">
              <a:defRPr sz="1000" b="1">
                <a:solidFill>
                  <a:srgbClr val="0070C0"/>
                </a:solidFill>
                <a:latin typeface="Calibri"/>
              </a:defRPr>
            </a:pPr>
            <a:r>
              <a:t>Technologies, Modular Micro-Stack &amp; End-to-End Operational Pipeline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70C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850" b="1">
                <a:solidFill>
                  <a:srgbClr val="0070C0"/>
                </a:solidFill>
                <a:latin typeface="Arial"/>
              </a:defRPr>
            </a:pPr>
            <a:r>
              <a:t>[Your Name]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02920" y="1115568"/>
            <a:ext cx="2121408" cy="2194560"/>
          </a:xfrm>
          <a:prstGeom prst="roundRect">
            <a:avLst/>
          </a:prstGeom>
          <a:solidFill>
            <a:srgbClr val="FAFCFF"/>
          </a:solidFill>
          <a:ln w="13970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02920" y="1115568"/>
            <a:ext cx="2121408" cy="219456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950" b="1">
                <a:solidFill>
                  <a:srgbClr val="0070C0"/>
                </a:solidFill>
                <a:latin typeface="Arial"/>
              </a:defRPr>
            </a:pPr>
            <a:r>
              <a:t>MOBILE APP (ANDROID / PWA)</a:t>
            </a:r>
          </a:p>
          <a:p>
            <a:pPr>
              <a:spcAft>
                <a:spcPts val="400"/>
              </a:spcAft>
              <a:defRPr sz="850" b="1">
                <a:solidFill>
                  <a:srgbClr val="0B132B"/>
                </a:solidFill>
                <a:latin typeface="Arial"/>
              </a:defRPr>
            </a:pPr>
            <a:r>
              <a:t>Capacitor / Android &amp; PWA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Client: </a:t>
            </a:r>
            <a:r>
              <a:rPr sz="800" b="0">
                <a:solidFill>
                  <a:srgbClr val="475569"/>
                </a:solidFill>
                <a:latin typeface="Calibri"/>
              </a:rPr>
              <a:t>Touch-Optimized Mobile UI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Packaging: </a:t>
            </a:r>
            <a:r>
              <a:rPr sz="800" b="0">
                <a:solidFill>
                  <a:srgbClr val="475569"/>
                </a:solidFill>
                <a:latin typeface="Calibri"/>
              </a:rPr>
              <a:t>Android APK &amp; Installable PWA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Offline Core: </a:t>
            </a:r>
            <a:r>
              <a:rPr sz="800" b="0">
                <a:solidFill>
                  <a:srgbClr val="475569"/>
                </a:solidFill>
                <a:latin typeface="Calibri"/>
              </a:rPr>
              <a:t>Service Worker &amp; SQLite / Cache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Sensors: </a:t>
            </a:r>
            <a:r>
              <a:rPr sz="800" b="0">
                <a:solidFill>
                  <a:srgbClr val="475569"/>
                </a:solidFill>
                <a:latin typeface="Calibri"/>
              </a:rPr>
              <a:t>Web Audio Voice Strain Check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761488" y="1115568"/>
            <a:ext cx="2121408" cy="2194560"/>
          </a:xfrm>
          <a:prstGeom prst="roundRect">
            <a:avLst/>
          </a:prstGeom>
          <a:solidFill>
            <a:srgbClr val="FAFCFF"/>
          </a:solidFill>
          <a:ln w="13970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2761488" y="1115568"/>
            <a:ext cx="2121408" cy="219456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950" b="1">
                <a:solidFill>
                  <a:srgbClr val="0070C0"/>
                </a:solidFill>
                <a:latin typeface="Arial"/>
              </a:defRPr>
            </a:pPr>
            <a:r>
              <a:t>BACKEND API</a:t>
            </a:r>
          </a:p>
          <a:p>
            <a:pPr>
              <a:spcAft>
                <a:spcPts val="400"/>
              </a:spcAft>
              <a:defRPr sz="850" b="1">
                <a:solidFill>
                  <a:srgbClr val="0B132B"/>
                </a:solidFill>
                <a:latin typeface="Arial"/>
              </a:defRPr>
            </a:pPr>
            <a:r>
              <a:t>FastAPI &amp; Python 3.11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API Engine: </a:t>
            </a:r>
            <a:r>
              <a:rPr sz="800" b="0">
                <a:solidFill>
                  <a:srgbClr val="475569"/>
                </a:solidFill>
                <a:latin typeface="Calibri"/>
              </a:rPr>
              <a:t>Asynchronous REST / Offline Sync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Validation: </a:t>
            </a:r>
            <a:r>
              <a:rPr sz="800" b="0">
                <a:solidFill>
                  <a:srgbClr val="475569"/>
                </a:solidFill>
                <a:latin typeface="Calibri"/>
              </a:rPr>
              <a:t>Pydantic v2 Models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ORM: </a:t>
            </a:r>
            <a:r>
              <a:rPr sz="800" b="0">
                <a:solidFill>
                  <a:srgbClr val="475569"/>
                </a:solidFill>
                <a:latin typeface="Calibri"/>
              </a:rPr>
              <a:t>SQLAlchemy 2.0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Database: </a:t>
            </a:r>
            <a:r>
              <a:rPr sz="800" b="0">
                <a:solidFill>
                  <a:srgbClr val="475569"/>
                </a:solidFill>
                <a:latin typeface="Calibri"/>
              </a:rPr>
              <a:t>PostgreSQL / SQLite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020056" y="1115568"/>
            <a:ext cx="2121408" cy="2194560"/>
          </a:xfrm>
          <a:prstGeom prst="roundRect">
            <a:avLst/>
          </a:prstGeom>
          <a:solidFill>
            <a:srgbClr val="FAFCFF"/>
          </a:solidFill>
          <a:ln w="13970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5020056" y="1115568"/>
            <a:ext cx="2121408" cy="219456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950" b="1">
                <a:solidFill>
                  <a:srgbClr val="0070C0"/>
                </a:solidFill>
                <a:latin typeface="Arial"/>
              </a:defRPr>
            </a:pPr>
            <a:r>
              <a:t>ML &amp; EXPLAINABILITY</a:t>
            </a:r>
          </a:p>
          <a:p>
            <a:pPr>
              <a:spcAft>
                <a:spcPts val="400"/>
              </a:spcAft>
              <a:defRPr sz="850" b="1">
                <a:solidFill>
                  <a:srgbClr val="0B132B"/>
                </a:solidFill>
                <a:latin typeface="Arial"/>
              </a:defRPr>
            </a:pPr>
            <a:r>
              <a:t>XGBoost &amp; SHAP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Algorithm: </a:t>
            </a:r>
            <a:r>
              <a:rPr sz="800" b="0">
                <a:solidFill>
                  <a:srgbClr val="475569"/>
                </a:solidFill>
                <a:latin typeface="Calibri"/>
              </a:rPr>
              <a:t>Gradient Boosted Tree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Attribution: </a:t>
            </a:r>
            <a:r>
              <a:rPr sz="800" b="0">
                <a:solidFill>
                  <a:srgbClr val="475569"/>
                </a:solidFill>
                <a:latin typeface="Calibri"/>
              </a:rPr>
              <a:t>SHAP TreeExplainer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Calibration: </a:t>
            </a:r>
            <a:r>
              <a:rPr sz="800" b="0">
                <a:solidFill>
                  <a:srgbClr val="475569"/>
                </a:solidFill>
                <a:latin typeface="Calibri"/>
              </a:rPr>
              <a:t>Platt Probability Scaling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Normalization: </a:t>
            </a:r>
            <a:r>
              <a:rPr sz="800" b="0">
                <a:solidFill>
                  <a:srgbClr val="475569"/>
                </a:solidFill>
                <a:latin typeface="Calibri"/>
              </a:rPr>
              <a:t>Personal Baseline Z-Score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7278624" y="1115568"/>
            <a:ext cx="2121408" cy="2194560"/>
          </a:xfrm>
          <a:prstGeom prst="roundRect">
            <a:avLst/>
          </a:prstGeom>
          <a:solidFill>
            <a:srgbClr val="FAFCFF"/>
          </a:solidFill>
          <a:ln w="13970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7278624" y="1115568"/>
            <a:ext cx="2121408" cy="219456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950" b="1">
                <a:solidFill>
                  <a:srgbClr val="0070C0"/>
                </a:solidFill>
                <a:latin typeface="Arial"/>
              </a:defRPr>
            </a:pPr>
            <a:r>
              <a:t>SECURITY &amp; STANDARDS</a:t>
            </a:r>
          </a:p>
          <a:p>
            <a:pPr>
              <a:spcAft>
                <a:spcPts val="400"/>
              </a:spcAft>
              <a:defRPr sz="850" b="1">
                <a:solidFill>
                  <a:srgbClr val="0B132B"/>
                </a:solidFill>
                <a:latin typeface="Arial"/>
              </a:defRPr>
            </a:pPr>
            <a:r>
              <a:t>GIGW 3.0 &amp; Mobile Security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Mobile Lock: </a:t>
            </a:r>
            <a:r>
              <a:rPr sz="800" b="0">
                <a:solidFill>
                  <a:srgbClr val="475569"/>
                </a:solidFill>
                <a:latin typeface="Calibri"/>
              </a:rPr>
              <a:t>Biometric / PIN App Lock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Access: </a:t>
            </a:r>
            <a:r>
              <a:rPr sz="800" b="0">
                <a:solidFill>
                  <a:srgbClr val="475569"/>
                </a:solidFill>
                <a:latin typeface="Calibri"/>
              </a:rPr>
              <a:t>5-Tier Military RBAC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Audit Log: </a:t>
            </a:r>
            <a:r>
              <a:rPr sz="800" b="0">
                <a:solidFill>
                  <a:srgbClr val="475569"/>
                </a:solidFill>
                <a:latin typeface="Calibri"/>
              </a:rPr>
              <a:t>Dual IST / UTC Ledger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Compliance: </a:t>
            </a:r>
            <a:r>
              <a:rPr sz="800" b="0">
                <a:solidFill>
                  <a:srgbClr val="475569"/>
                </a:solidFill>
                <a:latin typeface="Calibri"/>
              </a:rPr>
              <a:t>DPDP Act 2023 &amp; MHA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9537192" y="1115568"/>
            <a:ext cx="2121408" cy="2194560"/>
          </a:xfrm>
          <a:prstGeom prst="roundRect">
            <a:avLst/>
          </a:prstGeom>
          <a:solidFill>
            <a:srgbClr val="FAFCFF"/>
          </a:solidFill>
          <a:ln w="13970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9537192" y="1115568"/>
            <a:ext cx="2121408" cy="219456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defRPr sz="950" b="1">
                <a:solidFill>
                  <a:srgbClr val="0070C0"/>
                </a:solidFill>
                <a:latin typeface="Arial"/>
              </a:defRPr>
            </a:pPr>
            <a:r>
              <a:t>HARDWARE &amp; EDGE</a:t>
            </a:r>
          </a:p>
          <a:p>
            <a:pPr>
              <a:spcAft>
                <a:spcPts val="400"/>
              </a:spcAft>
              <a:defRPr sz="850" b="1">
                <a:solidFill>
                  <a:srgbClr val="0B132B"/>
                </a:solidFill>
                <a:latin typeface="Arial"/>
              </a:defRPr>
            </a:pPr>
            <a:r>
              <a:t>Zero-Cloud &amp; Low-Spec Mobile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Target Devices: </a:t>
            </a:r>
            <a:r>
              <a:rPr sz="800" b="0">
                <a:solidFill>
                  <a:srgbClr val="475569"/>
                </a:solidFill>
                <a:latin typeface="Calibri"/>
              </a:rPr>
              <a:t>Sub-₹10k Android Phones / Tablets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Tactical Node: </a:t>
            </a:r>
            <a:r>
              <a:rPr sz="800" b="0">
                <a:solidFill>
                  <a:srgbClr val="475569"/>
                </a:solidFill>
                <a:latin typeface="Calibri"/>
              </a:rPr>
              <a:t>COTS Laptops / RasPi 4 Edge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Network: </a:t>
            </a:r>
            <a:r>
              <a:rPr sz="800" b="0">
                <a:solidFill>
                  <a:srgbClr val="475569"/>
                </a:solidFill>
                <a:latin typeface="Calibri"/>
              </a:rPr>
              <a:t>Operates on 2G / PolNet / Offline</a:t>
            </a:r>
          </a:p>
          <a:p>
            <a:pPr>
              <a:spcAft>
                <a:spcPts val="200"/>
              </a:spcAft>
            </a:pPr>
            <a:r>
              <a:rPr sz="800" b="1">
                <a:solidFill>
                  <a:srgbClr val="0070C0"/>
                </a:solidFill>
                <a:latin typeface="Arial"/>
              </a:rPr>
              <a:t>• </a:t>
            </a:r>
            <a:r>
              <a:rPr sz="800" b="1">
                <a:solidFill>
                  <a:srgbClr val="0F172A"/>
                </a:solidFill>
                <a:latin typeface="Arial"/>
              </a:rPr>
              <a:t>Sovereignty: </a:t>
            </a:r>
            <a:r>
              <a:rPr sz="800" b="0">
                <a:solidFill>
                  <a:srgbClr val="475569"/>
                </a:solidFill>
                <a:latin typeface="Calibri"/>
              </a:rPr>
              <a:t>100% On-Premise Host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02920" y="3456432"/>
            <a:ext cx="2679192" cy="2468880"/>
          </a:xfrm>
          <a:prstGeom prst="roundRect">
            <a:avLst/>
          </a:prstGeom>
          <a:solidFill>
            <a:srgbClr val="FAFCFF"/>
          </a:solidFill>
          <a:ln w="13970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502920" y="3456432"/>
            <a:ext cx="2679192" cy="2468880"/>
          </a:xfrm>
          <a:prstGeom prst="rect">
            <a:avLst/>
          </a:prstGeom>
          <a:noFill/>
        </p:spPr>
        <p:txBody>
          <a:bodyPr wrap="square" lIns="109728" rIns="109728" tIns="91440">
            <a:spAutoFit/>
          </a:bodyPr>
          <a:lstStyle/>
          <a:p>
            <a:pPr>
              <a:defRPr sz="950" b="1">
                <a:solidFill>
                  <a:srgbClr val="0070C0"/>
                </a:solidFill>
                <a:latin typeface="Arial"/>
              </a:defRPr>
            </a:pPr>
            <a:r>
              <a:t>STAGE 1: MULTI-SOURCE INGESTION</a:t>
            </a:r>
          </a:p>
          <a:p>
            <a:pPr>
              <a:spcAft>
                <a:spcPts val="400"/>
              </a:spcAft>
              <a:defRPr sz="850" b="1">
                <a:solidFill>
                  <a:srgbClr val="0B132B"/>
                </a:solidFill>
                <a:latin typeface="Arial"/>
              </a:defRPr>
            </a:pPr>
            <a:r>
              <a:t>▶ Operational Signals &amp; Check-ins</a:t>
            </a:r>
          </a:p>
          <a:p>
            <a:pPr>
              <a:spcAft>
                <a:spcPts val="250"/>
              </a:spcAft>
            </a:pPr>
            <a:r>
              <a:rPr sz="819" b="1">
                <a:solidFill>
                  <a:srgbClr val="0070C0"/>
                </a:solidFill>
                <a:latin typeface="Arial"/>
              </a:rPr>
              <a:t>• </a:t>
            </a:r>
            <a:r>
              <a:rPr sz="819" b="1">
                <a:solidFill>
                  <a:srgbClr val="0F172A"/>
                </a:solidFill>
                <a:latin typeface="Arial"/>
              </a:rPr>
              <a:t>Mobile Saathi (Android): </a:t>
            </a:r>
            <a:r>
              <a:rPr sz="819" b="0">
                <a:solidFill>
                  <a:srgbClr val="475569"/>
                </a:solidFill>
                <a:latin typeface="Calibri"/>
              </a:rPr>
              <a:t>60s one-thumb check-in on sleep, stamina &amp; family connection.</a:t>
            </a:r>
          </a:p>
          <a:p>
            <a:pPr>
              <a:spcAft>
                <a:spcPts val="250"/>
              </a:spcAft>
            </a:pPr>
            <a:r>
              <a:rPr sz="819" b="1">
                <a:solidFill>
                  <a:srgbClr val="0070C0"/>
                </a:solidFill>
                <a:latin typeface="Arial"/>
              </a:rPr>
              <a:t>• </a:t>
            </a:r>
            <a:r>
              <a:rPr sz="819" b="1">
                <a:solidFill>
                  <a:srgbClr val="0F172A"/>
                </a:solidFill>
                <a:latin typeface="Arial"/>
              </a:rPr>
              <a:t>NCO Mobile Muster: </a:t>
            </a:r>
            <a:r>
              <a:rPr sz="819" b="0">
                <a:solidFill>
                  <a:srgbClr val="475569"/>
                </a:solidFill>
                <a:latin typeface="Calibri"/>
              </a:rPr>
              <a:t>48h-72h section log on rugged mobile/tablet.</a:t>
            </a:r>
          </a:p>
          <a:p>
            <a:pPr>
              <a:spcAft>
                <a:spcPts val="250"/>
              </a:spcAft>
            </a:pPr>
            <a:r>
              <a:rPr sz="819" b="1">
                <a:solidFill>
                  <a:srgbClr val="0070C0"/>
                </a:solidFill>
                <a:latin typeface="Arial"/>
              </a:rPr>
              <a:t>• </a:t>
            </a:r>
            <a:r>
              <a:rPr sz="819" b="1">
                <a:solidFill>
                  <a:srgbClr val="0F172A"/>
                </a:solidFill>
                <a:latin typeface="Arial"/>
              </a:rPr>
              <a:t>Peer Box: </a:t>
            </a:r>
            <a:r>
              <a:rPr sz="819" b="0">
                <a:solidFill>
                  <a:srgbClr val="475569"/>
                </a:solidFill>
                <a:latin typeface="Calibri"/>
              </a:rPr>
              <a:t>Anonymous comrade flag for severe withdrawal symptoms.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328416" y="3456432"/>
            <a:ext cx="2679192" cy="2468880"/>
          </a:xfrm>
          <a:prstGeom prst="roundRect">
            <a:avLst/>
          </a:prstGeom>
          <a:solidFill>
            <a:srgbClr val="FAFCFF"/>
          </a:solidFill>
          <a:ln w="13970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3328416" y="3456432"/>
            <a:ext cx="2679192" cy="2468880"/>
          </a:xfrm>
          <a:prstGeom prst="rect">
            <a:avLst/>
          </a:prstGeom>
          <a:noFill/>
        </p:spPr>
        <p:txBody>
          <a:bodyPr wrap="square" lIns="109728" rIns="109728" tIns="91440">
            <a:spAutoFit/>
          </a:bodyPr>
          <a:lstStyle/>
          <a:p>
            <a:pPr>
              <a:defRPr sz="950" b="1">
                <a:solidFill>
                  <a:srgbClr val="0070C0"/>
                </a:solidFill>
                <a:latin typeface="Arial"/>
              </a:defRPr>
            </a:pPr>
            <a:r>
              <a:t>STAGE 2: EDGE NORMALIZATION</a:t>
            </a:r>
          </a:p>
          <a:p>
            <a:pPr>
              <a:spcAft>
                <a:spcPts val="400"/>
              </a:spcAft>
              <a:defRPr sz="850" b="1">
                <a:solidFill>
                  <a:srgbClr val="0B132B"/>
                </a:solidFill>
                <a:latin typeface="Arial"/>
              </a:defRPr>
            </a:pPr>
            <a:r>
              <a:t>▶ Personal Baseline Z-Score (ΔZ)</a:t>
            </a:r>
          </a:p>
          <a:p>
            <a:pPr>
              <a:spcAft>
                <a:spcPts val="250"/>
              </a:spcAft>
            </a:pPr>
            <a:r>
              <a:rPr sz="819" b="1">
                <a:solidFill>
                  <a:srgbClr val="0070C0"/>
                </a:solidFill>
                <a:latin typeface="Arial"/>
              </a:rPr>
              <a:t>• </a:t>
            </a:r>
            <a:r>
              <a:rPr sz="819" b="1">
                <a:solidFill>
                  <a:srgbClr val="0F172A"/>
                </a:solidFill>
                <a:latin typeface="Arial"/>
              </a:rPr>
              <a:t>Moving Baseline: </a:t>
            </a:r>
            <a:r>
              <a:rPr sz="819" b="0">
                <a:solidFill>
                  <a:srgbClr val="475569"/>
                </a:solidFill>
                <a:latin typeface="Calibri"/>
              </a:rPr>
              <a:t>Evaluates metric against personal 90-day history (μ, σ).</a:t>
            </a:r>
          </a:p>
          <a:p>
            <a:pPr>
              <a:spcAft>
                <a:spcPts val="250"/>
              </a:spcAft>
            </a:pPr>
            <a:r>
              <a:rPr sz="819" b="1">
                <a:solidFill>
                  <a:srgbClr val="0070C0"/>
                </a:solidFill>
                <a:latin typeface="Arial"/>
              </a:rPr>
              <a:t>• </a:t>
            </a:r>
            <a:r>
              <a:rPr sz="819" b="1">
                <a:solidFill>
                  <a:srgbClr val="0F172A"/>
                </a:solidFill>
                <a:latin typeface="Arial"/>
              </a:rPr>
              <a:t>Formula: </a:t>
            </a:r>
            <a:r>
              <a:rPr sz="819" b="0">
                <a:solidFill>
                  <a:srgbClr val="475569"/>
                </a:solidFill>
                <a:latin typeface="Calibri"/>
              </a:rPr>
              <a:t>ΔZ = (X_t - μ) / σ computed across 6 operational vectors.</a:t>
            </a:r>
          </a:p>
          <a:p>
            <a:pPr>
              <a:spcAft>
                <a:spcPts val="250"/>
              </a:spcAft>
            </a:pPr>
            <a:r>
              <a:rPr sz="819" b="1">
                <a:solidFill>
                  <a:srgbClr val="0070C0"/>
                </a:solidFill>
                <a:latin typeface="Arial"/>
              </a:rPr>
              <a:t>• </a:t>
            </a:r>
            <a:r>
              <a:rPr sz="819" b="1">
                <a:solidFill>
                  <a:srgbClr val="0F172A"/>
                </a:solidFill>
                <a:latin typeface="Arial"/>
              </a:rPr>
              <a:t>Context Filter: </a:t>
            </a:r>
            <a:r>
              <a:rPr sz="819" b="0">
                <a:solidFill>
                  <a:srgbClr val="475569"/>
                </a:solidFill>
                <a:latin typeface="Calibri"/>
              </a:rPr>
              <a:t>Differentiates unit-wide hardship from solo distress.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153912" y="3456432"/>
            <a:ext cx="2679192" cy="2468880"/>
          </a:xfrm>
          <a:prstGeom prst="roundRect">
            <a:avLst/>
          </a:prstGeom>
          <a:solidFill>
            <a:srgbClr val="FAFCFF"/>
          </a:solidFill>
          <a:ln w="13970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153912" y="3456432"/>
            <a:ext cx="2679192" cy="2468880"/>
          </a:xfrm>
          <a:prstGeom prst="rect">
            <a:avLst/>
          </a:prstGeom>
          <a:noFill/>
        </p:spPr>
        <p:txBody>
          <a:bodyPr wrap="square" lIns="109728" rIns="109728" tIns="91440">
            <a:spAutoFit/>
          </a:bodyPr>
          <a:lstStyle/>
          <a:p>
            <a:pPr>
              <a:defRPr sz="950" b="1">
                <a:solidFill>
                  <a:srgbClr val="0070C0"/>
                </a:solidFill>
                <a:latin typeface="Arial"/>
              </a:defRPr>
            </a:pPr>
            <a:r>
              <a:t>STAGE 3: CALIBRATED ML &amp; XAI</a:t>
            </a:r>
          </a:p>
          <a:p>
            <a:pPr>
              <a:spcAft>
                <a:spcPts val="400"/>
              </a:spcAft>
              <a:defRPr sz="850" b="1">
                <a:solidFill>
                  <a:srgbClr val="0B132B"/>
                </a:solidFill>
                <a:latin typeface="Arial"/>
              </a:defRPr>
            </a:pPr>
            <a:r>
              <a:t>▶ XGBoost + SHAP Tree Attribution</a:t>
            </a:r>
          </a:p>
          <a:p>
            <a:pPr>
              <a:spcAft>
                <a:spcPts val="250"/>
              </a:spcAft>
            </a:pPr>
            <a:r>
              <a:rPr sz="819" b="1">
                <a:solidFill>
                  <a:srgbClr val="0070C0"/>
                </a:solidFill>
                <a:latin typeface="Arial"/>
              </a:rPr>
              <a:t>• </a:t>
            </a:r>
            <a:r>
              <a:rPr sz="819" b="1">
                <a:solidFill>
                  <a:srgbClr val="0F172A"/>
                </a:solidFill>
                <a:latin typeface="Arial"/>
              </a:rPr>
              <a:t>Model Benchmark: </a:t>
            </a:r>
            <a:r>
              <a:rPr sz="819" b="0">
                <a:solidFill>
                  <a:srgbClr val="475569"/>
                </a:solidFill>
                <a:latin typeface="Calibri"/>
              </a:rPr>
              <a:t>XGBoost (AUC 0.858, F1 0.679) beats LogReg (0.792) &amp; RF (0.824).</a:t>
            </a:r>
          </a:p>
          <a:p>
            <a:pPr>
              <a:spcAft>
                <a:spcPts val="250"/>
              </a:spcAft>
            </a:pPr>
            <a:r>
              <a:rPr sz="819" b="1">
                <a:solidFill>
                  <a:srgbClr val="0070C0"/>
                </a:solidFill>
                <a:latin typeface="Arial"/>
              </a:rPr>
              <a:t>• </a:t>
            </a:r>
            <a:r>
              <a:rPr sz="819" b="1">
                <a:solidFill>
                  <a:srgbClr val="0F172A"/>
                </a:solidFill>
                <a:latin typeface="Arial"/>
              </a:rPr>
              <a:t>SHAP Weights: </a:t>
            </a:r>
            <a:r>
              <a:rPr sz="819" b="0">
                <a:solidFill>
                  <a:srgbClr val="475569"/>
                </a:solidFill>
                <a:latin typeface="Calibri"/>
              </a:rPr>
              <a:t>Deconstructs 81.7% score: Sleep 42%, Shift 31%, Peer 18%.</a:t>
            </a:r>
          </a:p>
          <a:p>
            <a:pPr>
              <a:spcAft>
                <a:spcPts val="250"/>
              </a:spcAft>
            </a:pPr>
            <a:r>
              <a:rPr sz="819" b="1">
                <a:solidFill>
                  <a:srgbClr val="0070C0"/>
                </a:solidFill>
                <a:latin typeface="Arial"/>
              </a:rPr>
              <a:t>• </a:t>
            </a:r>
            <a:r>
              <a:rPr sz="819" b="1">
                <a:solidFill>
                  <a:srgbClr val="0F172A"/>
                </a:solidFill>
                <a:latin typeface="Arial"/>
              </a:rPr>
              <a:t>Calibration &amp; Triage: </a:t>
            </a:r>
            <a:r>
              <a:rPr sz="819" b="0">
                <a:solidFill>
                  <a:srgbClr val="475569"/>
                </a:solidFill>
                <a:latin typeface="Calibri"/>
              </a:rPr>
              <a:t>Platt scaling (Brier 0.048); prototype validation on synthetic cohort.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8979408" y="3456432"/>
            <a:ext cx="2679192" cy="2468880"/>
          </a:xfrm>
          <a:prstGeom prst="roundRect">
            <a:avLst/>
          </a:prstGeom>
          <a:solidFill>
            <a:srgbClr val="FAFCFF"/>
          </a:solidFill>
          <a:ln w="13970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8979408" y="3456432"/>
            <a:ext cx="2679192" cy="2468880"/>
          </a:xfrm>
          <a:prstGeom prst="rect">
            <a:avLst/>
          </a:prstGeom>
          <a:noFill/>
        </p:spPr>
        <p:txBody>
          <a:bodyPr wrap="square" lIns="109728" rIns="109728" tIns="91440">
            <a:spAutoFit/>
          </a:bodyPr>
          <a:lstStyle/>
          <a:p>
            <a:pPr>
              <a:defRPr sz="950" b="1">
                <a:solidFill>
                  <a:srgbClr val="0070C0"/>
                </a:solidFill>
                <a:latin typeface="Arial"/>
              </a:defRPr>
            </a:pPr>
            <a:r>
              <a:t>STAGE 4: CONFIDENTIAL ACTION</a:t>
            </a:r>
          </a:p>
          <a:p>
            <a:pPr>
              <a:spcAft>
                <a:spcPts val="400"/>
              </a:spcAft>
              <a:defRPr sz="850" b="1">
                <a:solidFill>
                  <a:srgbClr val="0B132B"/>
                </a:solidFill>
                <a:latin typeface="Arial"/>
              </a:defRPr>
            </a:pPr>
            <a:r>
              <a:t>▶ Medical &amp; Welfare Triage</a:t>
            </a:r>
          </a:p>
          <a:p>
            <a:pPr>
              <a:spcAft>
                <a:spcPts val="250"/>
              </a:spcAft>
            </a:pPr>
            <a:r>
              <a:rPr sz="819" b="1">
                <a:solidFill>
                  <a:srgbClr val="0070C0"/>
                </a:solidFill>
                <a:latin typeface="Arial"/>
              </a:rPr>
              <a:t>• </a:t>
            </a:r>
            <a:r>
              <a:rPr sz="819" b="1">
                <a:solidFill>
                  <a:srgbClr val="0F172A"/>
                </a:solidFill>
                <a:latin typeface="Arial"/>
              </a:rPr>
              <a:t>Medical Officer: </a:t>
            </a:r>
            <a:r>
              <a:rPr sz="819" b="0">
                <a:solidFill>
                  <a:srgbClr val="475569"/>
                </a:solidFill>
                <a:latin typeface="Calibri"/>
              </a:rPr>
              <a:t>Clinical triage dossier; notes strictly sealed from command.</a:t>
            </a:r>
          </a:p>
          <a:p>
            <a:pPr>
              <a:spcAft>
                <a:spcPts val="250"/>
              </a:spcAft>
            </a:pPr>
            <a:r>
              <a:rPr sz="819" b="1">
                <a:solidFill>
                  <a:srgbClr val="0070C0"/>
                </a:solidFill>
                <a:latin typeface="Arial"/>
              </a:rPr>
              <a:t>• </a:t>
            </a:r>
            <a:r>
              <a:rPr sz="819" b="1">
                <a:solidFill>
                  <a:srgbClr val="0F172A"/>
                </a:solidFill>
                <a:latin typeface="Arial"/>
              </a:rPr>
              <a:t>Welfare Officer: </a:t>
            </a:r>
            <a:r>
              <a:rPr sz="819" b="0">
                <a:solidFill>
                  <a:srgbClr val="475569"/>
                </a:solidFill>
                <a:latin typeface="Calibri"/>
              </a:rPr>
              <a:t>Coordinates emergency leave, family aid &amp; SPARSH desk.</a:t>
            </a:r>
          </a:p>
          <a:p>
            <a:pPr>
              <a:spcAft>
                <a:spcPts val="250"/>
              </a:spcAft>
            </a:pPr>
            <a:r>
              <a:rPr sz="819" b="1">
                <a:solidFill>
                  <a:srgbClr val="0070C0"/>
                </a:solidFill>
                <a:latin typeface="Arial"/>
              </a:rPr>
              <a:t>• </a:t>
            </a:r>
            <a:r>
              <a:rPr sz="819" b="1">
                <a:solidFill>
                  <a:srgbClr val="0F172A"/>
                </a:solidFill>
                <a:latin typeface="Arial"/>
              </a:rPr>
              <a:t>Vishram Mobile: </a:t>
            </a:r>
            <a:r>
              <a:rPr sz="819" b="0">
                <a:solidFill>
                  <a:srgbClr val="475569"/>
                </a:solidFill>
                <a:latin typeface="Calibri"/>
              </a:rPr>
              <a:t>Unmonitored self-care sanctuary available 24/7 on personal phone.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502920" y="5961888"/>
            <a:ext cx="11155680" cy="219456"/>
          </a:xfrm>
          <a:prstGeom prst="rect">
            <a:avLst/>
          </a:prstGeom>
          <a:solidFill>
            <a:srgbClr val="EAF3FD"/>
          </a:solidFill>
          <a:ln w="6350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0B132B"/>
                </a:solidFill>
                <a:latin typeface="Arial"/>
              </a:defRPr>
            </a:pPr>
            <a:r>
              <a:t>PROTOTYPE MODEL VALIDATION: Evaluated on 4,001 operational records (N=1,000 holdout, ROC-AUC 0.858, Platt Brier 0.048) • Dual NCO/Saathi safety net • Prototype only, not clinical validation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00200" y="109728"/>
            <a:ext cx="8001000" cy="868680"/>
          </a:xfrm>
        </p:spPr>
        <p:txBody>
          <a:bodyPr wrap="square" tIns="0" bIns="0"/>
          <a:lstStyle/>
          <a:p>
            <a:pPr eaLnBrk="1" hangingPunct="1" algn="ctr">
              <a:defRPr sz="1800" b="1">
                <a:solidFill>
                  <a:srgbClr val="0B132B"/>
                </a:solidFill>
                <a:latin typeface="Arial"/>
              </a:defRPr>
            </a:pPr>
            <a:r>
              <a:t>FEASIBILITY AND VIABILITY: READINESS, RISKS &amp; MITIGATIONS</a:t>
            </a:r>
          </a:p>
          <a:p>
            <a:pPr algn="ctr">
              <a:defRPr sz="1000" b="1">
                <a:solidFill>
                  <a:srgbClr val="0070C0"/>
                </a:solidFill>
                <a:latin typeface="Calibri"/>
              </a:defRPr>
            </a:pPr>
            <a:r>
              <a:t>Multi-Dimensional Feasibility Analysis, Armed Forces Risk Matrix &amp; Technical Safeguards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70C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850" b="1">
                <a:solidFill>
                  <a:srgbClr val="0070C0"/>
                </a:solidFill>
                <a:latin typeface="Arial"/>
              </a:defRPr>
            </a:pPr>
            <a:r>
              <a:t>[Your Name]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02920" y="1115568"/>
            <a:ext cx="3611880" cy="4892040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02920" y="1115568"/>
            <a:ext cx="3611880" cy="4892040"/>
          </a:xfrm>
          <a:prstGeom prst="rect">
            <a:avLst/>
          </a:prstGeom>
          <a:noFill/>
        </p:spPr>
        <p:txBody>
          <a:bodyPr wrap="square" lIns="146304" rIns="146304" tIns="109728" bIns="9144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Arial"/>
              </a:rPr>
              <a:t>1. FEASIBILITY ANALYSIS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0B132B"/>
                </a:solidFill>
                <a:latin typeface="Arial"/>
              </a:rPr>
              <a:t>▶ Technical, Operational &amp; Regulatory Readiness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100% FOSS Architecture: </a:t>
            </a:r>
            <a:r>
              <a:rPr sz="880" b="0">
                <a:solidFill>
                  <a:srgbClr val="475569"/>
                </a:solidFill>
                <a:latin typeface="Calibri"/>
              </a:rPr>
              <a:t>Built entirely on open-source libraries (FastAPI, React, SQLite, XGBoost); zero commercial license fees or cloud vendor lock-in.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Low-Spec Mobile Optimized: </a:t>
            </a:r>
            <a:r>
              <a:rPr sz="880" b="0">
                <a:solidFill>
                  <a:srgbClr val="475569"/>
                </a:solidFill>
                <a:latin typeface="Calibri"/>
              </a:rPr>
              <a:t>Lightweight APK (&lt;15 MB) runs smoothly on sub-₹10,000 Android phones (Android 8.0+, 2GB RAM); zero background battery drain.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Offline-First Mobile Edge: </a:t>
            </a:r>
            <a:r>
              <a:rPr sz="880" b="0">
                <a:solidFill>
                  <a:srgbClr val="475569"/>
                </a:solidFill>
                <a:latin typeface="Calibri"/>
              </a:rPr>
              <a:t>Local encrypted SQLite/IndexedDB cache operates without internet in forward bases; differential sync when connected to PolNet/Wi-Fi.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On-Device Biometric Lock: </a:t>
            </a:r>
            <a:r>
              <a:rPr sz="880" b="0">
                <a:solidFill>
                  <a:srgbClr val="475569"/>
                </a:solidFill>
                <a:latin typeface="Calibri"/>
              </a:rPr>
              <a:t>Safeguards personal check-in data with device PIN/Fingerprint lock, preventing peer snooping in shared barracks.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Zero-Fatigue Mobile Routine: </a:t>
            </a:r>
            <a:r>
              <a:rPr sz="880" b="0">
                <a:solidFill>
                  <a:srgbClr val="475569"/>
                </a:solidFill>
                <a:latin typeface="Calibri"/>
              </a:rPr>
              <a:t>60-second Saathi check-in fits post-PT routine; bi-daily NCO section muster takes &lt; 2 minutes on tactical tablet.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Bilingual Inclusivity: </a:t>
            </a:r>
            <a:r>
              <a:rPr sz="880" b="0">
                <a:solidFill>
                  <a:srgbClr val="475569"/>
                </a:solidFill>
                <a:latin typeface="Calibri"/>
              </a:rPr>
              <a:t>Seamless Hindi and English interface designed for personnel from diverse socio-linguistic backgrounds across India.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MHA Data Sovereignty &amp; DPDP: </a:t>
            </a:r>
            <a:r>
              <a:rPr sz="880" b="0">
                <a:solidFill>
                  <a:srgbClr val="475569"/>
                </a:solidFill>
                <a:latin typeface="Calibri"/>
              </a:rPr>
              <a:t>100% on-premise deployment strictly within government networks; compliant with DPDP Act 2023 and Mental Healthcare Act 2017.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79392" y="1115568"/>
            <a:ext cx="3611880" cy="4892040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279392" y="1115568"/>
            <a:ext cx="3611880" cy="4892040"/>
          </a:xfrm>
          <a:prstGeom prst="rect">
            <a:avLst/>
          </a:prstGeom>
          <a:noFill/>
        </p:spPr>
        <p:txBody>
          <a:bodyPr wrap="square" lIns="146304" rIns="146304" tIns="109728" bIns="9144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Arial"/>
              </a:rPr>
              <a:t>2. CHALLENGES &amp; RISKS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0B132B"/>
                </a:solidFill>
                <a:latin typeface="Arial"/>
              </a:rPr>
              <a:t>▶ Real-World Operational &amp; Behavioral Barriers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Risk 1: Stigma &amp; Career Fear: </a:t>
            </a:r>
            <a:r>
              <a:rPr sz="880" b="0">
                <a:solidFill>
                  <a:srgbClr val="475569"/>
                </a:solidFill>
                <a:latin typeface="Calibri"/>
              </a:rPr>
              <a:t>Frontline troops fear admitting distress will cause weapon de-authorization, denial of leaves, or assignment to non-combat duties.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Risk 2: Remote / Zero Cellular Link: </a:t>
            </a:r>
            <a:r>
              <a:rPr sz="880" b="0">
                <a:solidFill>
                  <a:srgbClr val="475569"/>
                </a:solidFill>
                <a:latin typeface="Calibri"/>
              </a:rPr>
              <a:t>Remote tactical operating bases (Sukma, Dantewada, remote J&amp;K/North-East outposts) operate under intermittent 2G or zero cellular reception.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Risk 3: False Alarm Fatigue: </a:t>
            </a:r>
            <a:r>
              <a:rPr sz="880" b="0">
                <a:solidFill>
                  <a:srgbClr val="475569"/>
                </a:solidFill>
                <a:latin typeface="Calibri"/>
              </a:rPr>
              <a:t>Generic static thresholds generate frequent false-positive alerts, overwhelming limited Unit Medical Officers (Doctors).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Risk 4: Snooping &amp; Disciplinary Abuse: </a:t>
            </a:r>
            <a:r>
              <a:rPr sz="880" b="0">
                <a:solidFill>
                  <a:srgbClr val="475569"/>
                </a:solidFill>
                <a:latin typeface="Calibri"/>
              </a:rPr>
              <a:t>Risk of non-medical commanding officers accessing sensitive psychiatric records and using them punitively against personnel.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Risk 5: Peer Inaccuracy &amp; Gossip: </a:t>
            </a:r>
            <a:r>
              <a:rPr sz="880" b="0">
                <a:solidFill>
                  <a:srgbClr val="475569"/>
                </a:solidFill>
                <a:latin typeface="Calibri"/>
              </a:rPr>
              <a:t>Unverified peer reporting causing friction or unfair targeting within tight-knit combat sections.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055864" y="1115568"/>
            <a:ext cx="3611880" cy="4892040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8055864" y="1115568"/>
            <a:ext cx="3611880" cy="4892040"/>
          </a:xfrm>
          <a:prstGeom prst="rect">
            <a:avLst/>
          </a:prstGeom>
          <a:noFill/>
        </p:spPr>
        <p:txBody>
          <a:bodyPr wrap="square" lIns="146304" rIns="146304" tIns="109728" bIns="9144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Arial"/>
              </a:rPr>
              <a:t>3. MITIGATION STRATEGIES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0B132B"/>
                </a:solidFill>
                <a:latin typeface="Arial"/>
              </a:rPr>
              <a:t>▶ Engineered Architectural Safeguards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Mitigation 1 (Air-Gapped Vishram): </a:t>
            </a:r>
            <a:r>
              <a:rPr sz="880" b="0">
                <a:solidFill>
                  <a:srgbClr val="475569"/>
                </a:solidFill>
                <a:latin typeface="Calibri"/>
              </a:rPr>
              <a:t>100% unmonitored self-care relaxation sanctuary on personal phone with zero telemetry, zero logs, and zero administrative visibility.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Mitigation 2 (Offline-First Mobile Edge): </a:t>
            </a:r>
            <a:r>
              <a:rPr sz="880" b="0">
                <a:solidFill>
                  <a:srgbClr val="475569"/>
                </a:solidFill>
                <a:latin typeface="Calibri"/>
              </a:rPr>
              <a:t>Autonomous mobile edge storage operates without internet; executes encrypted differential batch sync when military LAN/PolNet is restored.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Mitigation 3 (Personal Baseline + SHAP): </a:t>
            </a:r>
            <a:r>
              <a:rPr sz="880" b="0">
                <a:solidFill>
                  <a:srgbClr val="475569"/>
                </a:solidFill>
                <a:latin typeface="Calibri"/>
              </a:rPr>
              <a:t>Z-score compares soldier to personal history; explainable SHAP weights give doctors transparent evidence, eliminating bias.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Mitigation 4 (Strict RBAC &amp; Sealed Dossiers): </a:t>
            </a:r>
            <a:r>
              <a:rPr sz="880" b="0">
                <a:solidFill>
                  <a:srgbClr val="475569"/>
                </a:solidFill>
                <a:latin typeface="Calibri"/>
              </a:rPr>
              <a:t>Clinical triage records legally sealed from line command; senior officers only see aggregate readiness scores.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Mitigation 5 (Dual IST/UTC Immutable Ledger): </a:t>
            </a:r>
            <a:r>
              <a:rPr sz="880" b="0">
                <a:solidFill>
                  <a:srgbClr val="475569"/>
                </a:solidFill>
                <a:latin typeface="Calibri"/>
              </a:rPr>
              <a:t>SHA-256 tamper-evident audit trail permanently logs every administrative event, preventing unauthorized tampering.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00200" y="109728"/>
            <a:ext cx="8001000" cy="868680"/>
          </a:xfrm>
        </p:spPr>
        <p:txBody>
          <a:bodyPr wrap="square" tIns="0" bIns="0"/>
          <a:lstStyle/>
          <a:p>
            <a:pPr eaLnBrk="1" hangingPunct="1" algn="ctr">
              <a:defRPr sz="1800" b="1">
                <a:solidFill>
                  <a:srgbClr val="0B132B"/>
                </a:solidFill>
                <a:latin typeface="Arial"/>
              </a:defRPr>
            </a:pPr>
            <a:r>
              <a:t>IMPACT AND BENEFITS: TROOP WELFARE &amp; STRATEGIC READINESS</a:t>
            </a:r>
          </a:p>
          <a:p>
            <a:pPr algn="ctr">
              <a:defRPr sz="1000" b="1">
                <a:solidFill>
                  <a:srgbClr val="0070C0"/>
                </a:solidFill>
                <a:latin typeface="Calibri"/>
              </a:defRPr>
            </a:pPr>
            <a:r>
              <a:t>Quantifiable Impact on 10.5+ Lakh Troops, Multi-Tiered Benefits &amp; SDG Alignment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70C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850" b="1">
                <a:solidFill>
                  <a:srgbClr val="0070C0"/>
                </a:solidFill>
                <a:latin typeface="Arial"/>
              </a:defRPr>
            </a:pPr>
            <a:r>
              <a:t>[Your Name]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02920" y="1115568"/>
            <a:ext cx="5440680" cy="4892040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02920" y="1115568"/>
            <a:ext cx="5440680" cy="4892040"/>
          </a:xfrm>
          <a:prstGeom prst="rect">
            <a:avLst/>
          </a:prstGeom>
          <a:noFill/>
        </p:spPr>
        <p:txBody>
          <a:bodyPr wrap="square" lIns="146304" rIns="146304" tIns="109728" bIns="9144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Arial"/>
              </a:rPr>
              <a:t>1. POTENTIAL IMPACT ON TARGET AUDIENCE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0B132B"/>
                </a:solidFill>
                <a:latin typeface="Arial"/>
              </a:rPr>
              <a:t>▶ Safeguarding 3.25+ Lakh CRPF Personnel (Pan-CAPF Scalable)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CRPF Primary Mandate: </a:t>
            </a:r>
            <a:r>
              <a:rPr sz="880" b="0">
                <a:solidFill>
                  <a:srgbClr val="475569"/>
                </a:solidFill>
                <a:latin typeface="Calibri"/>
              </a:rPr>
              <a:t>Directly protects 3.25+ Lakh active CRPF personnel across Left-Wing Extremism (LWE), J&amp;K/NE counter-insurgency, and Law &amp; Order/RAF duties; architected for pan-CAPF expansion.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Direct Mobile Reach in Barracks: </a:t>
            </a:r>
            <a:r>
              <a:rPr sz="880" b="0">
                <a:solidFill>
                  <a:srgbClr val="475569"/>
                </a:solidFill>
                <a:latin typeface="Calibri"/>
              </a:rPr>
              <a:t>Puts confidential welfare directly into the pockets of 3.25+ Lakh jawans on their personal or unit smartphones without requiring IT labs.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30–60 Day Early-Warning Window: </a:t>
            </a:r>
            <a:r>
              <a:rPr sz="880" b="0">
                <a:solidFill>
                  <a:srgbClr val="475569"/>
                </a:solidFill>
                <a:latin typeface="Calibri"/>
              </a:rPr>
              <a:t>Detects cumulative operational burnout, sleep deprivation, and social withdrawal weeks before acute crisis, self-harm, or fratricide occur.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Normalizing Mental Fitness: </a:t>
            </a:r>
            <a:r>
              <a:rPr sz="880" b="0">
                <a:solidFill>
                  <a:srgbClr val="475569"/>
                </a:solidFill>
                <a:latin typeface="Calibri"/>
              </a:rPr>
              <a:t>Decouples mental wellness from psychiatric stigma, treating psychological recovery and stress mitigation as core combat fitness skills.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Institutional Family Support: </a:t>
            </a:r>
            <a:r>
              <a:rPr sz="880" b="0">
                <a:solidFill>
                  <a:srgbClr val="475569"/>
                </a:solidFill>
                <a:latin typeface="Calibri"/>
              </a:rPr>
              <a:t>Provides dedicated grievance escalation for family land disputes, children's education grants, medical assistance, and SPARSH pensions.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Actionable Command Visibility: </a:t>
            </a:r>
            <a:r>
              <a:rPr sz="880" b="0">
                <a:solidFill>
                  <a:srgbClr val="475569"/>
                </a:solidFill>
                <a:latin typeface="Calibri"/>
              </a:rPr>
              <a:t>Empowers battalion commanders with aggregate, non-invasive visibility into unit fatigue, rest cycles, and morale without violating privacy.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217920" y="1115568"/>
            <a:ext cx="5440680" cy="4892040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6217920" y="1115568"/>
            <a:ext cx="5440680" cy="4892040"/>
          </a:xfrm>
          <a:prstGeom prst="rect">
            <a:avLst/>
          </a:prstGeom>
          <a:noFill/>
        </p:spPr>
        <p:txBody>
          <a:bodyPr wrap="square" lIns="146304" rIns="146304" tIns="109728" bIns="9144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Arial"/>
              </a:rPr>
              <a:t>2. MULTI-DIMENSIONAL BENEFITS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0B132B"/>
                </a:solidFill>
                <a:latin typeface="Arial"/>
              </a:rPr>
              <a:t>▶ Social, Operational, Economic &amp; Global Alignment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Social &amp; Humanitarian Value: </a:t>
            </a:r>
            <a:r>
              <a:rPr sz="880" b="0">
                <a:solidFill>
                  <a:srgbClr val="475569"/>
                </a:solidFill>
                <a:latin typeface="Calibri"/>
              </a:rPr>
              <a:t>Dramatic reduction in preventable non-combat casualties; protects troop dignity, camaraderie, and psychological safety in forward posts.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Operational Combat Readiness: </a:t>
            </a:r>
            <a:r>
              <a:rPr sz="880" b="0">
                <a:solidFill>
                  <a:srgbClr val="475569"/>
                </a:solidFill>
                <a:latin typeface="Calibri"/>
              </a:rPr>
              <a:t>Maintains frontline cognitive sharpness, alertness, and reaction times in high-threat Counter-Naxal, counter-insurgency, and riot-control duties.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Retention &amp; Cost Savings: </a:t>
            </a:r>
            <a:r>
              <a:rPr sz="880" b="0">
                <a:solidFill>
                  <a:srgbClr val="475569"/>
                </a:solidFill>
                <a:latin typeface="Calibri"/>
              </a:rPr>
              <a:t>Prevents attrition of highly trained commando forces; saves crores in avoidable emergency air evacuations and long-term psychiatric hospitalizations.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Zero Recurring License Costs: </a:t>
            </a:r>
            <a:r>
              <a:rPr sz="880" b="0">
                <a:solidFill>
                  <a:srgbClr val="475569"/>
                </a:solidFill>
                <a:latin typeface="Calibri"/>
              </a:rPr>
              <a:t>100% open-source architecture eliminates expensive recurring commercial SaaS software subscription charges.</a:t>
            </a:r>
          </a:p>
          <a:p>
            <a:pPr>
              <a:spcAft>
                <a:spcPts val="350"/>
              </a:spcAft>
            </a:pPr>
            <a:r>
              <a:rPr sz="880" b="1">
                <a:solidFill>
                  <a:srgbClr val="0070C0"/>
                </a:solidFill>
                <a:latin typeface="Arial"/>
              </a:rPr>
              <a:t>• </a:t>
            </a:r>
            <a:r>
              <a:rPr sz="880" b="1">
                <a:solidFill>
                  <a:srgbClr val="0F172A"/>
                </a:solidFill>
                <a:latin typeface="Arial"/>
              </a:rPr>
              <a:t>Alignment with UN SDGs: </a:t>
            </a:r>
            <a:r>
              <a:rPr sz="880" b="0">
                <a:solidFill>
                  <a:srgbClr val="475569"/>
                </a:solidFill>
                <a:latin typeface="Calibri"/>
              </a:rPr>
              <a:t>Directly advances three United Nations Sustainable Development Goals:</a:t>
            </a:r>
          </a:p>
          <a:p>
            <a:pPr>
              <a:spcAft>
                <a:spcPts val="350"/>
              </a:spcAft>
            </a:pPr>
            <a:r>
              <a:rPr sz="840" b="1">
                <a:solidFill>
                  <a:srgbClr val="0070C0"/>
                </a:solidFill>
                <a:latin typeface="Arial"/>
              </a:rPr>
              <a:t>• </a:t>
            </a:r>
            <a:r>
              <a:rPr sz="840" b="1">
                <a:solidFill>
                  <a:srgbClr val="0F172A"/>
                </a:solidFill>
                <a:latin typeface="Arial"/>
              </a:rPr>
              <a:t>• SDG 3 (Good Health &amp; Well-Being): </a:t>
            </a:r>
            <a:r>
              <a:rPr sz="840" b="0">
                <a:solidFill>
                  <a:srgbClr val="475569"/>
                </a:solidFill>
                <a:latin typeface="Calibri"/>
              </a:rPr>
              <a:t>Universal, confidential mental healthcare access.</a:t>
            </a:r>
          </a:p>
          <a:p>
            <a:pPr>
              <a:spcAft>
                <a:spcPts val="350"/>
              </a:spcAft>
            </a:pPr>
            <a:r>
              <a:rPr sz="840" b="1">
                <a:solidFill>
                  <a:srgbClr val="0070C0"/>
                </a:solidFill>
                <a:latin typeface="Arial"/>
              </a:rPr>
              <a:t>• </a:t>
            </a:r>
            <a:r>
              <a:rPr sz="840" b="1">
                <a:solidFill>
                  <a:srgbClr val="0F172A"/>
                </a:solidFill>
                <a:latin typeface="Arial"/>
              </a:rPr>
              <a:t>• SDG 8 (Decent Work &amp; Economic Growth): </a:t>
            </a:r>
            <a:r>
              <a:rPr sz="840" b="0">
                <a:solidFill>
                  <a:srgbClr val="475569"/>
                </a:solidFill>
                <a:latin typeface="Calibri"/>
              </a:rPr>
              <a:t>Safe, dignified, stress-monitored working environments.</a:t>
            </a:r>
          </a:p>
          <a:p>
            <a:pPr>
              <a:spcAft>
                <a:spcPts val="350"/>
              </a:spcAft>
            </a:pPr>
            <a:r>
              <a:rPr sz="840" b="1">
                <a:solidFill>
                  <a:srgbClr val="0070C0"/>
                </a:solidFill>
                <a:latin typeface="Arial"/>
              </a:rPr>
              <a:t>• </a:t>
            </a:r>
            <a:r>
              <a:rPr sz="840" b="1">
                <a:solidFill>
                  <a:srgbClr val="0F172A"/>
                </a:solidFill>
                <a:latin typeface="Arial"/>
              </a:rPr>
              <a:t>• SDG 16 (Peace, Justice &amp; Strong Institutions): </a:t>
            </a:r>
            <a:r>
              <a:rPr sz="840" b="0">
                <a:solidFill>
                  <a:srgbClr val="475569"/>
                </a:solidFill>
                <a:latin typeface="Calibri"/>
              </a:rPr>
              <a:t>Accountable, transparent, and ethical institutional governance.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00200" y="109728"/>
            <a:ext cx="8001000" cy="868680"/>
          </a:xfrm>
        </p:spPr>
        <p:txBody>
          <a:bodyPr wrap="square" tIns="0" bIns="0"/>
          <a:lstStyle/>
          <a:p>
            <a:pPr eaLnBrk="1" hangingPunct="1" algn="ctr">
              <a:defRPr sz="1800" b="1">
                <a:solidFill>
                  <a:srgbClr val="0B132B"/>
                </a:solidFill>
                <a:latin typeface="Arial"/>
              </a:defRPr>
            </a:pPr>
            <a:r>
              <a:t>RESEARCH AND REFERENCES: STUDIES &amp; FRAMEWORKS</a:t>
            </a:r>
          </a:p>
          <a:p>
            <a:pPr algn="ctr">
              <a:defRPr sz="1000" b="1">
                <a:solidFill>
                  <a:srgbClr val="0070C0"/>
                </a:solidFill>
                <a:latin typeface="Calibri"/>
              </a:defRPr>
            </a:pPr>
            <a:r>
              <a:t>Government Reports, Clinical Armed Forces Frameworks, ML Literature &amp; Governance Norms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70C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850" b="1">
                <a:solidFill>
                  <a:srgbClr val="0070C0"/>
                </a:solidFill>
                <a:latin typeface="Arial"/>
              </a:defRPr>
            </a:pPr>
            <a:r>
              <a:t>[Your Name]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02920" y="1143000"/>
            <a:ext cx="5440680" cy="2423160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02920" y="1143000"/>
            <a:ext cx="5440680" cy="2423160"/>
          </a:xfrm>
          <a:prstGeom prst="rect">
            <a:avLst/>
          </a:prstGeom>
          <a:noFill/>
        </p:spPr>
        <p:txBody>
          <a:bodyPr wrap="square" lIns="146304" rIns="146304" tIns="109728" bIns="9144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Arial"/>
              </a:rPr>
              <a:t>1. GOVERNMENT &amp; ACADEMIC STUDIES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0B132B"/>
                </a:solidFill>
                <a:latin typeface="Arial"/>
              </a:rPr>
              <a:t>▶ Official Paramilitary Suicide &amp; Family Stress Studies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MHA Task Force Report (2022–23): </a:t>
            </a:r>
            <a:r>
              <a:rPr sz="900" b="0">
                <a:solidFill>
                  <a:srgbClr val="475569"/>
                </a:solidFill>
                <a:latin typeface="Calibri"/>
              </a:rPr>
              <a:t>Landmark government study on causes of suicides and fratricide in CAPFs; identified prolonged separation, leave delays, and sleep loss as primary stressors.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Gupta &amp; Barman (2023, IJFMR ICMRS): </a:t>
            </a:r>
            <a:r>
              <a:rPr sz="900" b="0">
                <a:solidFill>
                  <a:srgbClr val="475569"/>
                </a:solidFill>
                <a:latin typeface="Calibri"/>
              </a:rPr>
              <a:t>400-respondent CAPF/CRPF survey establishing family structure impact: 72% nuclear vs 28% joint; nuclear isolation vs joint friction as distinct stress pathways.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MHA Leave &amp; Rotation Guidelines: </a:t>
            </a:r>
            <a:r>
              <a:rPr sz="900" b="0">
                <a:solidFill>
                  <a:srgbClr val="475569"/>
                </a:solidFill>
                <a:latin typeface="Calibri"/>
              </a:rPr>
              <a:t>Official rotation directives requiring regularized rest cycles and non-punitive welfare tracking.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217920" y="1143000"/>
            <a:ext cx="5440680" cy="2423160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6217920" y="1143000"/>
            <a:ext cx="5440680" cy="2423160"/>
          </a:xfrm>
          <a:prstGeom prst="rect">
            <a:avLst/>
          </a:prstGeom>
          <a:noFill/>
        </p:spPr>
        <p:txBody>
          <a:bodyPr wrap="square" lIns="146304" rIns="146304" tIns="109728" bIns="9144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Arial"/>
              </a:rPr>
              <a:t>2. CLINICAL &amp; ARMED FORCES STANDARDS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0B132B"/>
                </a:solidFill>
                <a:latin typeface="Arial"/>
              </a:rPr>
              <a:t>▶ Psychiatric Frameworks &amp; Military Welfare Protocols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NIMHANS Paramilitary Guidelines (2021): </a:t>
            </a:r>
            <a:r>
              <a:rPr sz="900" b="0">
                <a:solidFill>
                  <a:srgbClr val="475569"/>
                </a:solidFill>
                <a:latin typeface="Calibri"/>
              </a:rPr>
              <a:t>Framework for community-level gatekeeper training, peer distress indicators, and non-stigmatizing triage for uniformed personnel.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BPR&amp;D Stress Management Compendium: </a:t>
            </a:r>
            <a:r>
              <a:rPr sz="900" b="0">
                <a:solidFill>
                  <a:srgbClr val="475569"/>
                </a:solidFill>
                <a:latin typeface="Calibri"/>
              </a:rPr>
              <a:t>Bureau of Police Research and Development compendium on institutional resilience, yoga/relaxation spaces, and welfare audits.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Armed Forces Medical Services (AFMS): </a:t>
            </a:r>
            <a:r>
              <a:rPr sz="900" b="0">
                <a:solidFill>
                  <a:srgbClr val="475569"/>
                </a:solidFill>
                <a:latin typeface="Calibri"/>
              </a:rPr>
              <a:t>Standard operating procedures on confidentiality and legal segregation of medical health records from line command.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02920" y="3703320"/>
            <a:ext cx="5440680" cy="2423160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502920" y="3703320"/>
            <a:ext cx="5440680" cy="2423160"/>
          </a:xfrm>
          <a:prstGeom prst="rect">
            <a:avLst/>
          </a:prstGeom>
          <a:noFill/>
        </p:spPr>
        <p:txBody>
          <a:bodyPr wrap="square" lIns="146304" rIns="146304" tIns="109728" bIns="9144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Arial"/>
              </a:rPr>
              <a:t>3. MACHINE LEARNING &amp; XAI LITERATURE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0B132B"/>
                </a:solidFill>
                <a:latin typeface="Arial"/>
              </a:rPr>
              <a:t>▶ Explainability &amp; Longitudinal Anomaly Detection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Lundberg &amp; Lee (NeurIPS / Nature MI): </a:t>
            </a:r>
            <a:r>
              <a:rPr sz="900" b="0">
                <a:solidFill>
                  <a:srgbClr val="475569"/>
                </a:solidFill>
                <a:latin typeface="Calibri"/>
              </a:rPr>
              <a:t>'A Unified Approach to Interpreting Model Predictions' — foundational theory of SHAP (SHapley Additive exPlanations) for clinical AI transparency.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Hastie, Tibshirani &amp; Friedman (Stanford): </a:t>
            </a:r>
            <a:r>
              <a:rPr sz="900" b="0">
                <a:solidFill>
                  <a:srgbClr val="475569"/>
                </a:solidFill>
                <a:latin typeface="Calibri"/>
              </a:rPr>
              <a:t>'The Elements of Statistical Learning' — multivariate personal baseline Z-score normalization for longitudinal health telemetry.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Platt Scaling (Advances in Large Margin): </a:t>
            </a:r>
            <a:r>
              <a:rPr sz="900" b="0">
                <a:solidFill>
                  <a:srgbClr val="475569"/>
                </a:solidFill>
                <a:latin typeface="Calibri"/>
              </a:rPr>
              <a:t>Probabilistic calibration transforming decision tree boundaries into true, calibrated likelihood percentages (81.7%).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217920" y="3703320"/>
            <a:ext cx="5440680" cy="2423160"/>
          </a:xfrm>
          <a:prstGeom prst="roundRect">
            <a:avLst/>
          </a:prstGeom>
          <a:solidFill>
            <a:srgbClr val="FAFCFF"/>
          </a:solidFill>
          <a:ln w="15875">
            <a:solidFill>
              <a:srgbClr val="BA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217920" y="3703320"/>
            <a:ext cx="5440680" cy="2423160"/>
          </a:xfrm>
          <a:prstGeom prst="rect">
            <a:avLst/>
          </a:prstGeom>
          <a:noFill/>
        </p:spPr>
        <p:txBody>
          <a:bodyPr wrap="square" lIns="146304" rIns="146304" tIns="109728" bIns="9144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Arial"/>
              </a:rPr>
              <a:t>4. DIGITAL GOVERNANCE &amp; LEGAL NORMS</a:t>
            </a:r>
          </a:p>
          <a:p>
            <a:pPr>
              <a:spcAft>
                <a:spcPts val="500"/>
              </a:spcAft>
            </a:pPr>
            <a:r>
              <a:rPr sz="900" b="1">
                <a:solidFill>
                  <a:srgbClr val="0B132B"/>
                </a:solidFill>
                <a:latin typeface="Arial"/>
              </a:rPr>
              <a:t>▶ Indian Government Standards &amp; Data Protection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GIGW 3.0 Guidelines: </a:t>
            </a:r>
            <a:r>
              <a:rPr sz="900" b="0">
                <a:solidFill>
                  <a:srgbClr val="475569"/>
                </a:solidFill>
                <a:latin typeface="Calibri"/>
              </a:rPr>
              <a:t>Guidelines for Indian Government Websites and Applications: bilingual accessibility, dual IST/UTC logging, and cybersecurity compliance.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DPDP Act 2023 &amp; Mental Healthcare Act 2017: </a:t>
            </a:r>
            <a:r>
              <a:rPr sz="900" b="0">
                <a:solidFill>
                  <a:srgbClr val="475569"/>
                </a:solidFill>
                <a:latin typeface="Calibri"/>
              </a:rPr>
              <a:t>Strict statutory adherence to purpose limitation, privacy-by-design, and legally sealed health records.</a:t>
            </a:r>
          </a:p>
          <a:p>
            <a:pPr>
              <a:spcAft>
                <a:spcPts val="350"/>
              </a:spcAft>
            </a:pPr>
            <a:r>
              <a:rPr sz="900" b="1">
                <a:solidFill>
                  <a:srgbClr val="0070C0"/>
                </a:solidFill>
                <a:latin typeface="Arial"/>
              </a:rPr>
              <a:t>• </a:t>
            </a:r>
            <a:r>
              <a:rPr sz="900" b="1">
                <a:solidFill>
                  <a:srgbClr val="0F172A"/>
                </a:solidFill>
                <a:latin typeface="Arial"/>
              </a:rPr>
              <a:t>MeitY &amp; CERT-In Directives: </a:t>
            </a:r>
            <a:r>
              <a:rPr sz="900" b="0">
                <a:solidFill>
                  <a:srgbClr val="475569"/>
                </a:solidFill>
                <a:latin typeface="Calibri"/>
              </a:rPr>
              <a:t>Information security benchmarks for sensitive defense and paramilitary institutional deployments.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